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3f84c111-2e2f-1f99-6155-bec200b98ba3}">
          <p14:sldIdLst>
            <p14:sldId id="256"/>
          </p14:sldIdLst>
        </p14:section>
        <p14:section name="Tổng quan tuần" id="{1d376bbd-ff5f-e7d8-1859-63481b86c541}">
          <p14:sldIdLst>
            <p14:sldId id="257"/>
          </p14:sldIdLst>
        </p14:section>
        <p14:section name="Thí nghiệm 1 – Sentinel Pulse" id="{dadc5a06-14eb-9c78-d40e-ea2788ad5f61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Thí nghiệm 2 – Syscall và nhóm feature" id="{ddda5cae-9b1e-f572-8629-d53cafee6d81}">
          <p14:sldIdLst>
            <p14:sldId id="267"/>
            <p14:sldId id="268"/>
            <p14:sldId id="269"/>
          </p14:sldIdLst>
        </p14:section>
        <p14:section name="Thí nghiệm 3 – RCA" id="{f7eb0c0b-f622-b606-76a0-e38819bbc9b1}">
          <p14:sldIdLst>
            <p14:sldId id="270"/>
            <p14:sldId id="271"/>
          </p14:sldIdLst>
        </p14:section>
        <p14:section name="Phần rule và việc tiếp theo" id="{5e6beb75-5050-aff8-ffbd-74da36135596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EU_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Cấu trúc bài trình bày (tiến độ 16/10 – 23/10/2026)</a:t>
            </a:r>
            <a:endParaRPr lang="en-US" sz="2200" dirty="0"/>
          </a:p>
        </p:txBody>
      </p:sp>
      <p:sp>
        <p:nvSpPr>
          <p:cNvPr id="3" name="Mục lục"/>
          <p:cNvSpPr txBox="1"/>
          <p:nvPr/>
        </p:nvSpPr>
        <p:spPr>
          <a:xfrm>
            <a:off x="813816" y="1161288"/>
            <a:ext cx="10881360" cy="5120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1. Tổng quan tuần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Các lượt chạy thật trên cụm, kết quả chính</a:t>
            </a:r>
            <a:endParaRPr lang="en-US" sz="1800" dirty="0"/>
          </a:p>
          <a:p>
            <a:pPr indent="0" marL="0">
              <a:spcBef>
                <a:spcPts val="1200"/>
              </a:spcBef>
              <a:buNone/>
            </a:pPr>
            <a:r>
              <a:rPr lang="en-US" sz="1800" b="1" dirty="0">
                <a:solidFill>
                  <a:schemeClr val="tx1"/>
                </a:solidFill>
              </a:rPr>
              <a:t>2. Thí nghiệm 1 – Sentinel Pulse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Calibration và luật gộp theo thời gian, binary vô hại, baseline, CUSUM và lỗi "nhớ" alarm, cấu hình ML stable, gánh cảnh báo, overhead</a:t>
            </a:r>
            <a:endParaRPr lang="en-US" sz="1800" dirty="0"/>
          </a:p>
          <a:p>
            <a:pPr indent="0" marL="0">
              <a:spcBef>
                <a:spcPts val="1200"/>
              </a:spcBef>
              <a:buNone/>
            </a:pPr>
            <a:r>
              <a:rPr lang="en-US" sz="1800" b="1" dirty="0">
                <a:solidFill>
                  <a:schemeClr val="tx1"/>
                </a:solidFill>
              </a:rPr>
              <a:t>3. Thí nghiệm 2 – Lựa chọn syscall và nhóm feature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So sánh 11 cấu hình ở cùng ngân sách cảnh báo, nhóm feature trong vector 249 chiều, kiểm lại dưới luật mới</a:t>
            </a:r>
            <a:endParaRPr lang="en-US" sz="1800" dirty="0"/>
          </a:p>
          <a:p>
            <a:pPr indent="0" marL="0">
              <a:spcBef>
                <a:spcPts val="1200"/>
              </a:spcBef>
              <a:buNone/>
            </a:pPr>
            <a:r>
              <a:rPr lang="en-US" sz="1800" b="1" dirty="0">
                <a:solidFill>
                  <a:schemeClr val="tx1"/>
                </a:solidFill>
              </a:rPr>
              <a:t>4. Thí nghiệm 3 – RCA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Độ trễ, case tiếp nối, luật xếp hạng mới, baseline binary</a:t>
            </a:r>
            <a:endParaRPr lang="en-US" sz="1800" dirty="0"/>
          </a:p>
          <a:p>
            <a:pPr indent="0" marL="0">
              <a:spcBef>
                <a:spcPts val="1200"/>
              </a:spcBef>
              <a:buNone/>
            </a:pPr>
            <a:r>
              <a:rPr lang="en-US" sz="1800" b="1" dirty="0">
                <a:solidFill>
                  <a:schemeClr val="tx1"/>
                </a:solidFill>
              </a:rPr>
              <a:t>5. Phần rule và việc tiếp theo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Falco và tripwire đánh giá riêng; lượt xác nhận; tiến độ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Tổng quan – các lượt chạy thật trong tuần</a:t>
            </a:r>
            <a:endParaRPr lang="en-US" sz="2200" dirty="0"/>
          </a:p>
        </p:txBody>
      </p:sp>
      <p:graphicFrame>
        <p:nvGraphicFramePr>
          <p:cNvPr id="3" name="Bả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24128"/>
          <a:ext cx="108813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371600"/>
                <a:gridCol w="3108960"/>
                <a:gridCol w="3383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Lượt chạy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Thời gian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Cấu hình chính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Mục đích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pulse-soak-baseline (48 giờ)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15–17/10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Candidate gốc, 1 cửa sổ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Đo gánh cảnh báo; dữ liệu cho thí nghiệm syscall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pulse-live-recalibrated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19–20/10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Calibration lại, 1 cửa sổ α×3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Lần đầu có binary vô hại đối chứng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pulse-stable-candidate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20–21/10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k2of2 α×10, chấm nhanh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Ứng viên bản stable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pulse-stable-refreshed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21–22/10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k2of2 α×10 + calibration làm mới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Kiểm luật chọn v2 trên dữ liệu mới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pulse-stable-confirm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23–24/10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ML stable: CUSUM cap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Xác nhận ML stable (đang chạy)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Ghi chú"/>
          <p:cNvSpPr txBox="1"/>
          <p:nvPr/>
        </p:nvSpPr>
        <p:spPr>
          <a:xfrm>
            <a:off x="813816" y="3246120"/>
            <a:ext cx="108813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Mỗi lượt: 3 worker, 24 giờ, 21 workload; campaign 315 cặp (control → binary vô hại → attack, 5 kịch bản × 3 tốc độ). </a:t>
            </a:r>
            <a:r>
              <a:rPr lang="en-US" sz="1600" b="1" dirty="0">
                <a:solidFill>
                  <a:schemeClr val="tx1"/>
                </a:solidFill>
              </a:rPr>
              <a:t>Mọi luật chọn được đăng ký trước khi có số; không đổi lựa chọn sau khi xem kết quả.</a:t>
            </a:r>
            <a:endParaRPr lang="en-US" sz="1600" dirty="0"/>
          </a:p>
        </p:txBody>
      </p:sp>
      <p:sp>
        <p:nvSpPr>
          <p:cNvPr id="5" name="Nội dung"/>
          <p:cNvSpPr txBox="1"/>
          <p:nvPr/>
        </p:nvSpPr>
        <p:spPr>
          <a:xfrm>
            <a:off x="813816" y="4206240"/>
            <a:ext cx="108813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Kết quả nổi bật: </a:t>
            </a:r>
            <a:r>
              <a:rPr lang="en-US" sz="1800" dirty="0">
                <a:solidFill>
                  <a:schemeClr val="tx1"/>
                </a:solidFill>
              </a:rPr>
              <a:t>lần đầu đạt cả 4 kỳ vọng trên lượt live mới (pulse-stable-refreshed, mức độ trễ ≤ 3 s)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Phát hiện quan trọng: </a:t>
            </a:r>
            <a:r>
              <a:rPr lang="en-US" sz="1800" dirty="0">
                <a:solidFill>
                  <a:schemeClr val="tx1"/>
                </a:solidFill>
              </a:rPr>
              <a:t>binary vô hại cũng bị gắn cờ 81–98% – Pulse phát hiện "process mới", chưa phân biệt ác ý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Đã chốt: </a:t>
            </a:r>
            <a:r>
              <a:rPr lang="en-US" sz="1800" dirty="0">
                <a:solidFill>
                  <a:schemeClr val="tx1"/>
                </a:solidFill>
              </a:rPr>
              <a:t>cấu hình ML stable (22/10), đang chạy lượt xác nhận 525 cặp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Thí nghiệm 1 – Kết quả campaign trên các lượt live</a:t>
            </a:r>
            <a:endParaRPr lang="en-US" sz="2200" dirty="0"/>
          </a:p>
        </p:txBody>
      </p:sp>
      <p:graphicFrame>
        <p:nvGraphicFramePr>
          <p:cNvPr id="4" name="Bả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24128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737360"/>
                <a:gridCol w="1737360"/>
                <a:gridCol w="1737360"/>
                <a:gridCol w="17373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Chỉ số (kỳ vọng)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live-recalibrated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stable-candidate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stable-refreshed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ML stable*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Precision (≥ 95%)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89,1%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92,2%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96,0%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96,9%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Recall (≥ 95%)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92,8%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97,8%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Control dương (≤ 5%)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11,2%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8,4%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4,2%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3,2%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p95 kernel → preview (&lt; 2 s / ≤ 3 s)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1,90 s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1,85 s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2,26 s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2,05 s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Binary vô hại bị gắn cờ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80,7%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92,0%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94,1%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98,1%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Đợt cảnh báo/replica-giờ (normal)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6,6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6,7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6,1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Ghi chú"/>
          <p:cNvSpPr txBox="1"/>
          <p:nvPr/>
        </p:nvSpPr>
        <p:spPr>
          <a:xfrm>
            <a:off x="813816" y="3657600"/>
            <a:ext cx="108813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* ML stable: base29 + calibration làm mới + CUSUM b3/h6 chặn trần, replay trên luồng liên tục của pulse-stable-refreshed; </a:t>
            </a:r>
            <a:r>
              <a:rPr lang="en-US" sz="1600" b="1" dirty="0">
                <a:solidFill>
                  <a:schemeClr val="tx1"/>
                </a:solidFill>
              </a:rPr>
              <a:t>chờ xác nhận trên lượt live mới. </a:t>
            </a:r>
            <a:r>
              <a:rPr lang="en-US" sz="1600" dirty="0">
                <a:solidFill>
                  <a:schemeClr val="tx1"/>
                </a:solidFill>
              </a:rPr>
              <a:t>Đợt cảnh báo: mỗi chuỗi cảnh báo liên tiếp của một container tính là một đợt; ngân sách mong muốn 0,1/giờ.</a:t>
            </a:r>
            <a:endParaRPr lang="en-US" sz="1600" dirty="0"/>
          </a:p>
        </p:txBody>
      </p:sp>
      <p:sp>
        <p:nvSpPr>
          <p:cNvPr id="5" name="Nội dung"/>
          <p:cNvSpPr txBox="1"/>
          <p:nvPr/>
        </p:nvSpPr>
        <p:spPr>
          <a:xfrm>
            <a:off x="813816" y="4846320"/>
            <a:ext cx="108813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pulse-stable-refreshed</a:t>
            </a:r>
            <a:r>
              <a:rPr lang="en-US" sz="1800" dirty="0">
                <a:solidFill>
                  <a:schemeClr val="tx1"/>
                </a:solidFill>
              </a:rPr>
              <a:t> là lượt live đầu tiên đạt cả 4 kỳ vọng (mức độ trễ ≤ 3 s)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Cả 4 chỉ số tốt lên qua từng lượt</a:t>
            </a:r>
            <a:r>
              <a:rPr lang="en-US" sz="1800" dirty="0">
                <a:solidFill>
                  <a:schemeClr val="tx1"/>
                </a:solidFill>
              </a:rPr>
              <a:t> nhờ calibration làm mới, k2of2 và chấm điểm nhanh (khớp từng bit với sklearn)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Thí nghiệm 1 – Calibration và luật gộp theo thời gian</a:t>
            </a:r>
            <a:endParaRPr lang="en-US" sz="2200" dirty="0"/>
          </a:p>
        </p:txBody>
      </p:sp>
      <p:graphicFrame>
        <p:nvGraphicFramePr>
          <p:cNvPr id="5" name="Bả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24128"/>
          <a:ext cx="108813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463040"/>
                <a:gridCol w="1280160"/>
                <a:gridCol w="1280160"/>
                <a:gridCol w="128016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Chính sách (soak 48 giờ, pulse-attack-dev)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Đợt/giờ normal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Precision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Recall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Control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p95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 cửa sổ, p-value gốc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37,1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79,8%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99,3%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23,3%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1,61 s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 of 2, p-value gốc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22,3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87,3%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98,3%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13,3%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2,25 s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 cửa sổ, p-value hiệu chỉnh lại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9,1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97,8%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91,3%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1,9%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2,91 s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Nội dung"/>
          <p:cNvSpPr txBox="1"/>
          <p:nvPr/>
        </p:nvSpPr>
        <p:spPr>
          <a:xfrm>
            <a:off x="813816" y="2834640"/>
            <a:ext cx="1088136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Hiệu chỉnh lại p-value (18/10): </a:t>
            </a:r>
            <a:r>
              <a:rPr lang="en-US" sz="1800" dirty="0">
                <a:solidFill>
                  <a:schemeClr val="tx1"/>
                </a:solidFill>
              </a:rPr>
              <a:t>cửa sổ normal bị gắn cờ 8,11% → 0,35%; model giữ nguyên, chỉ đổi tập hiệu chỉnh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k-of-n một mình không đủ: </a:t>
            </a:r>
            <a:r>
              <a:rPr lang="en-US" sz="1800" dirty="0">
                <a:solidFill>
                  <a:schemeClr val="tx1"/>
                </a:solidFill>
              </a:rPr>
              <a:t>giảm báo nhầm nhưng đẩy p95 vượt 2 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Làm mới định kỳ: </a:t>
            </a:r>
            <a:r>
              <a:rPr lang="en-US" sz="1800" dirty="0">
                <a:solidFill>
                  <a:schemeClr val="tx1"/>
                </a:solidFill>
              </a:rPr>
              <a:t>trên soak 48 giờ giảm 16–37% gánh cảnh báo; trong 24 giờ sau một lần làm mới thì không chiến lược nào thắng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Chọn chính sách: </a:t>
            </a:r>
            <a:r>
              <a:rPr lang="en-US" sz="1800" dirty="0">
                <a:solidFill>
                  <a:schemeClr val="tx1"/>
                </a:solidFill>
              </a:rPr>
              <a:t>theo luật đăng ký trước (v1 ngày 19/10, v2 ngày 21/10), biên Pareto 58 chính sách có khoảng tin cậy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Thí nghiệm 1 – Phát hiện: binary vô hại cũng bị gắn cờ</a:t>
            </a:r>
            <a:endParaRPr lang="en-US" sz="2200" dirty="0"/>
          </a:p>
        </p:txBody>
      </p:sp>
      <p:sp>
        <p:nvSpPr>
          <p:cNvPr id="3" name="Nội dung"/>
          <p:cNvSpPr txBox="1"/>
          <p:nvPr/>
        </p:nvSpPr>
        <p:spPr>
          <a:xfrm>
            <a:off x="813816" y="1024128"/>
            <a:ext cx="10881360" cy="5120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Đối chứng mới (từ 19/10): </a:t>
            </a:r>
            <a:r>
              <a:rPr lang="en-US" sz="1800" dirty="0">
                <a:solidFill>
                  <a:schemeClr val="tx1"/>
                </a:solidFill>
              </a:rPr>
              <a:t>mỗi cặp chạy một binary vô hại bằng đúng đường khởi chạy của attack, 20 s trước attack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Kết quả: </a:t>
            </a:r>
            <a:r>
              <a:rPr lang="en-US" sz="1800" dirty="0">
                <a:solidFill>
                  <a:schemeClr val="tx1"/>
                </a:solidFill>
              </a:rPr>
              <a:t>binary vô hại bị gắn cờ 81–98% ở mọi lượt → Pulse phát hiện "process mới bất thường", chưa phân biệt được ác ý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Cảnh báo trên normal trùng gì: </a:t>
            </a:r>
            <a:r>
              <a:rPr lang="en-US" sz="1800" dirty="0">
                <a:solidFill>
                  <a:schemeClr val="tx1"/>
                </a:solidFill>
              </a:rPr>
              <a:t>50–54% case trùng exec probe của Kubernetes (benign trigger, Alahmadi et al., USENIX Security 2022)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Review nhãn 4.766 cảnh báo normal (22/10): </a:t>
            </a:r>
            <a:r>
              <a:rPr lang="en-US" sz="1800" dirty="0">
                <a:solidFill>
                  <a:schemeClr val="tx1"/>
                </a:solidFill>
              </a:rPr>
              <a:t>luật đăng ký trước + đọc tay 33 case; không case nào có dấu hiệu độc hại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Tín hiệu bổ sung có triển vọng: </a:t>
            </a:r>
            <a:r>
              <a:rPr lang="en-US" sz="1800" dirty="0">
                <a:solidFill>
                  <a:schemeClr val="tx1"/>
                </a:solidFill>
              </a:rPr>
              <a:t>syscall lạ ngoài tập exec – bắt 100% ptrace/setns/execveat, binary vô hại 0,3% (phần rule, tách riêng)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Còn mở: </a:t>
            </a:r>
            <a:r>
              <a:rPr lang="en-US" sz="1800" dirty="0">
                <a:solidFill>
                  <a:schemeClr val="tx1"/>
                </a:solidFill>
              </a:rPr>
              <a:t>tách attack khỏi process vô hại cho mprotect/seccomp; cần thông tin ngoài tần suất (tham số syscall, quan hệ cha–con)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Thí nghiệm 1 – So với baseline trên cùng dữ liệu</a:t>
            </a:r>
            <a:endParaRPr lang="en-US" sz="2200" dirty="0"/>
          </a:p>
        </p:txBody>
      </p:sp>
      <p:graphicFrame>
        <p:nvGraphicFramePr>
          <p:cNvPr id="7" name="Bả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24128"/>
          <a:ext cx="108813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371600"/>
                <a:gridCol w="1280160"/>
                <a:gridCol w="1645920"/>
                <a:gridCol w="118872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Nhánh (ngân sách 1 đợt/replica-giờ)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α / ngưỡng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Recall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Binary vô hại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Control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p95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base29 (Pulse)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×3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98,3%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79,5%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0,6%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2,79 s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Autoencoder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×10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99,3%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1,2%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1,09 s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freq_profile (kiểu BoSC)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×30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63,1%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16,2%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1,2%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6,25 s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Isolation Forest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×5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2,4%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1,3%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0,6%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8,80 s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Nội dung"/>
          <p:cNvSpPr txBox="1"/>
          <p:nvPr/>
        </p:nvSpPr>
        <p:spPr>
          <a:xfrm>
            <a:off x="813816" y="3017520"/>
            <a:ext cx="1088136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Cùng đặc trưng, cùng calibration, cùng luật k2of2; </a:t>
            </a:r>
            <a:r>
              <a:rPr lang="en-US" sz="1800" dirty="0">
                <a:solidFill>
                  <a:schemeClr val="tx1"/>
                </a:solidFill>
              </a:rPr>
              <a:t>chỉ khác bộ chấm điểm (development, pulse-live-recalibrated)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Autoencoder: </a:t>
            </a:r>
            <a:r>
              <a:rPr lang="en-US" sz="1800" dirty="0">
                <a:solidFill>
                  <a:schemeClr val="tx1"/>
                </a:solidFill>
              </a:rPr>
              <a:t>bắt nhiều và nhanh hơn, nhưng gắn cờ gần như mọi binary vô hại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Lặp lại trên dữ liệu mới (22/10): </a:t>
            </a:r>
            <a:r>
              <a:rPr lang="en-US" sz="1800" dirty="0">
                <a:solidFill>
                  <a:schemeClr val="tx1"/>
                </a:solidFill>
              </a:rPr>
              <a:t>AE và tree_ae recall +4,9 điểm nhưng khoảng cách attack − vô hại kém 26 điểm (CI dưới 0) → không thay base29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Ý nghĩa: </a:t>
            </a:r>
            <a:r>
              <a:rPr lang="en-US" sz="1800" dirty="0">
                <a:solidFill>
                  <a:schemeClr val="tx1"/>
                </a:solidFill>
              </a:rPr>
              <a:t>điểm mạnh của Pulse nằm ở khung đánh giá vận hành và khả năng tách vô hại, không ở bản thân bộ chấm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Thí nghiệm 1 – CUSUM và lỗi "nhớ" alarm (sửa trước khi chạy live)</a:t>
            </a:r>
            <a:endParaRPr lang="en-US" sz="2200" dirty="0"/>
          </a:p>
        </p:txBody>
      </p:sp>
      <p:graphicFrame>
        <p:nvGraphicFramePr>
          <p:cNvPr id="8" name="Bả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24128"/>
          <a:ext cx="108813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737360"/>
                <a:gridCol w="1920240"/>
                <a:gridCol w="201168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Luồng liên tục (stable-refreshed)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k2of2 α×10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CUSUM bản đầu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CUSUM chặn trần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CUSUM restart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Đợt cảnh báo/replica-giờ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6,74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5,32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6,07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6,30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Control dương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4,1%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5,7% ✗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3,2%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2,9%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Precision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96,0%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94,6% ✗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96,9%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97,2%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p95 kernel → preview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2,28 s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1,70 s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2,05 s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2,05 s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Nội dung"/>
          <p:cNvSpPr txBox="1"/>
          <p:nvPr/>
        </p:nvSpPr>
        <p:spPr>
          <a:xfrm>
            <a:off x="813816" y="3017520"/>
            <a:ext cx="1088136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CUSUM (Page 1954): </a:t>
            </a:r>
            <a:r>
              <a:rPr lang="en-US" sz="1800" dirty="0">
                <a:solidFill>
                  <a:schemeClr val="tx1"/>
                </a:solidFill>
              </a:rPr>
              <a:t>cộng dồn bằng chứng −ln p qua các cửa sổ; tối ưu khi bằng chứng từng cửa sổ cố định (Moustakides 1986)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Lỗi phát hiện 22/10: </a:t>
            </a:r>
            <a:r>
              <a:rPr lang="en-US" sz="1800" dirty="0">
                <a:solidFill>
                  <a:schemeClr val="tx1"/>
                </a:solidFill>
              </a:rPr>
              <a:t>S tích lũy không giới hạn (tới 2.638, ngưỡng 6) → alarm kéo dài nhiều phút sang trial sau; phép kiểm trước khởi động lại CUSUM ở mỗi trial nên không thấy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Sửa: </a:t>
            </a:r>
            <a:r>
              <a:rPr lang="en-US" sz="1800" dirty="0">
                <a:solidFill>
                  <a:schemeClr val="tx1"/>
                </a:solidFill>
              </a:rPr>
              <a:t>chặn trần S, chọn theo luật đăng ký trước; dừng lượt live trước khi chạy cấu hình lỗi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Cái giá: </a:t>
            </a:r>
            <a:r>
              <a:rPr lang="en-US" sz="1800" dirty="0">
                <a:solidFill>
                  <a:schemeClr val="tx1"/>
                </a:solidFill>
              </a:rPr>
              <a:t>p95 2,05 s – ML stable ở mức ≤ 3 s, không phải &lt; 2 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Thí nghiệm 1 – Cấu hình ML stable đã chốt (22/10)</a:t>
            </a:r>
            <a:endParaRPr lang="en-US" sz="2200" dirty="0"/>
          </a:p>
        </p:txBody>
      </p:sp>
      <p:graphicFrame>
        <p:nvGraphicFramePr>
          <p:cNvPr id="9" name="Bả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24128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846320"/>
                <a:gridCol w="38404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Thành phần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Lựa chọn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Căn cứ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Bộ chấm điểm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base29: ExtraTrees + nhánh support, 249 feature, 21 model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Baseline lặp lại không thay được (5.15b)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Calibration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Làm mới một lần trước lượt chạy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 chiến lược định kỳ không thắng trên dữ liệu mới (5.17)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Luật thời gian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CUSUM drift 3, ngưỡng 6, chặn trần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Đạt luật chọn trên luồng liên tục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Chính sách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policy-cusum-b3-h6-cap (SHA-256 93dd1478…)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Đóng băng, kiểm nạp qua loader thật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Nội dung"/>
          <p:cNvSpPr txBox="1"/>
          <p:nvPr/>
        </p:nvSpPr>
        <p:spPr>
          <a:xfrm>
            <a:off x="813816" y="3337560"/>
            <a:ext cx="1088136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Kỳ vọng trên lượt xác nhận: </a:t>
            </a:r>
            <a:r>
              <a:rPr lang="en-US" sz="1800" dirty="0">
                <a:solidFill>
                  <a:schemeClr val="tx1"/>
                </a:solidFill>
              </a:rPr>
              <a:t>precision, recall ≥ 95%; control ≤ 5%; p95 &lt; 2 s ưu tiên, ≤ 3 s chấp nhận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Lượt xác nhận pulse-stable-confirm: </a:t>
            </a:r>
            <a:r>
              <a:rPr lang="en-US" sz="1800" dirty="0">
                <a:solidFill>
                  <a:schemeClr val="tx1"/>
                </a:solidFill>
              </a:rPr>
              <a:t>23/10 01:19 → 24/10 01:20; 525 cặp; tốc độ attack 1, 3, 6, 12, 24/s (1 và 3/s: kẻ tấn công chậm)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Lượt này cũng là: </a:t>
            </a:r>
            <a:r>
              <a:rPr lang="en-US" sz="1800" dirty="0">
                <a:solidFill>
                  <a:schemeClr val="tx1"/>
                </a:solidFill>
              </a:rPr>
              <a:t>test blind cho hướng giảm gánh cảnh báo và dữ liệu cho so sánh có/không rule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Thí nghiệm 1 – Gánh cảnh báo trên dữ liệu bình thường</a:t>
            </a:r>
            <a:endParaRPr lang="en-US" sz="2200" dirty="0"/>
          </a:p>
        </p:txBody>
      </p:sp>
      <p:graphicFrame>
        <p:nvGraphicFramePr>
          <p:cNvPr id="10" name="Bả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24128"/>
          <a:ext cx="1088136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2194560"/>
                <a:gridCol w="2103120"/>
                <a:gridCol w="21031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Đợt/replica-giờ (2 lượt)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90 phút đầu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Sau đó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Toàn lượt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k2of2 α×10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11,8 / 12,2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6,1 / 6,3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6,6 / 6,7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CUSUM chặn trần (ML stable)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10,4 / 10,1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5,5 / 5,7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5,9 / 6,1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Nội dung"/>
          <p:cNvSpPr txBox="1"/>
          <p:nvPr/>
        </p:nvSpPr>
        <p:spPr>
          <a:xfrm>
            <a:off x="813816" y="2240280"/>
            <a:ext cx="1088136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90 phút đầu: </a:t>
            </a:r>
            <a:r>
              <a:rPr lang="en-US" sz="1800" dirty="0">
                <a:solidFill>
                  <a:schemeClr val="tx1"/>
                </a:solidFill>
              </a:rPr>
              <a:t>traffic luân phiên 5 chế độ (steady, toolmix, peak, burst, recovery) → gánh gấp khoảng 2 lần; phần sau chỉ có traffic ổn định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Không thấy drift: </a:t>
            </a:r>
            <a:r>
              <a:rPr lang="en-US" sz="1800" dirty="0">
                <a:solidFill>
                  <a:schemeClr val="tx1"/>
                </a:solidFill>
              </a:rPr>
              <a:t>gánh theo giờ dao động quanh một mức trong 20 giờ sau một lần làm mới calibration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Nguồn gốc: </a:t>
            </a:r>
            <a:r>
              <a:rPr lang="en-US" sz="1800" dirty="0">
                <a:solidFill>
                  <a:schemeClr val="tx1"/>
                </a:solidFill>
              </a:rPr>
              <a:t>khoảng 50% case trùng probe Kubernetes; không case nào có dấu hiệu độc hại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Khoảng cách: </a:t>
            </a:r>
            <a:r>
              <a:rPr lang="en-US" sz="1800" dirty="0">
                <a:solidFill>
                  <a:schemeClr val="tx1"/>
                </a:solidFill>
              </a:rPr>
              <a:t>còn gấp khoảng 60 lần ngân sách 0,1 đợt/giờ; chỉnh ngưỡng không giải được (biên Pareto)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Thí nghiệm 1 – Giảm gánh cảnh báo (development, chờ test blind)</a:t>
            </a:r>
            <a:endParaRPr lang="en-US" sz="2200" dirty="0"/>
          </a:p>
        </p:txBody>
      </p:sp>
      <p:graphicFrame>
        <p:nvGraphicFramePr>
          <p:cNvPr id="11" name="Bả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24128"/>
          <a:ext cx="10881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286000"/>
                <a:gridCol w="3200400"/>
                <a:gridCol w="28346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2 lượt development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k2of2 α×10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Mức &lt; 2 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Mức ≤ 3 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Cấu hình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tham chiếu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Mondrian + replica 60 s + k2of2 α×15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replica 30 s + k2of2 α×5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Đợt/replica-giờ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6,57 / 6,74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2,30 / 2,19 (−65%)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1,66 / 1,55 (−75%)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Recall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99,4% / 100%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98,7% / 99,7%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98,1% / 99,4%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Control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4,4% / 4,1%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1,3% / 1,6%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0,95% / 0,95%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Binary vô hại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94% / 94%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95% / 95%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89% / 84%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p95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1,98 / 2,28 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1,97 / 1,97 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2,75 / 2,98 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Nội dung"/>
          <p:cNvSpPr txBox="1"/>
          <p:nvPr/>
        </p:nvSpPr>
        <p:spPr>
          <a:xfrm>
            <a:off x="813816" y="3657600"/>
            <a:ext cx="108813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Ý tưởng từ tài liệu: </a:t>
            </a:r>
            <a:r>
              <a:rPr lang="en-US" sz="1800" dirty="0">
                <a:solidFill>
                  <a:schemeClr val="tx1"/>
                </a:solidFill>
              </a:rPr>
              <a:t>hành vi mà replica khác cũng có thì không tính là bằng chứng (ReplicaWatcher, NDSS 2024); hiệu chỉnh theo lớp có/không exec (Mondrian)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Đóng góp chính: </a:t>
            </a:r>
            <a:r>
              <a:rPr lang="en-US" sz="1800" dirty="0">
                <a:solidFill>
                  <a:schemeClr val="tx1"/>
                </a:solidFill>
              </a:rPr>
              <a:t>chiết khấu theo replica; chỉ được nhận nếu đạt lại trên lượt xác nhận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Thí nghiệm 1 – Overhead của probe eBPF (22/10)</a:t>
            </a:r>
            <a:endParaRPr lang="en-US" sz="2200" dirty="0"/>
          </a:p>
        </p:txBody>
      </p:sp>
      <p:graphicFrame>
        <p:nvGraphicFramePr>
          <p:cNvPr id="12" name="Bả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24128"/>
          <a:ext cx="10881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2194560"/>
                <a:gridCol w="2011680"/>
                <a:gridCol w="17373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Microbenchmark (worker4)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ns/op khi tắt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Không theo dõi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Theo dõi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ns thêm/syscall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getpid (1 syscall)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1.069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+15,6%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+24,0%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~250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read 4 KB (1 syscall)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1.531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+5,5%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+16,7%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~253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open + close (2 syscall)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8.134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+6,3%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+9,4%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~451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mmap + munmap (2 syscall)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11.378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+3,3%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+8,8%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~400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Nội dung"/>
          <p:cNvSpPr txBox="1"/>
          <p:nvPr/>
        </p:nvSpPr>
        <p:spPr>
          <a:xfrm>
            <a:off x="813816" y="3154680"/>
            <a:ext cx="1088136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Cách đo: </a:t>
            </a:r>
            <a:r>
              <a:rPr lang="en-US" sz="1800" dirty="0">
                <a:solidFill>
                  <a:schemeClr val="tx1"/>
                </a:solidFill>
              </a:rPr>
              <a:t>3 điều kiện (tắt / gắn nhưng không theo dõi / theo dõi), luân phiên 5 vòng, CI 95% bootstrap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Đọc: </a:t>
            </a:r>
            <a:r>
              <a:rPr lang="en-US" sz="1800" dirty="0">
                <a:solidFill>
                  <a:schemeClr val="tx1"/>
                </a:solidFill>
              </a:rPr>
              <a:t>chi phí cố định khoảng 250–450 ns mỗi syscall của container được theo dõi; ứng dụng 50.000 syscall/s tốn khoảng 1,5% một core (ước tính)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Giới hạn: </a:t>
            </a:r>
            <a:r>
              <a:rPr lang="en-US" sz="1800" dirty="0">
                <a:solidFill>
                  <a:schemeClr val="tx1"/>
                </a:solidFill>
              </a:rPr>
              <a:t>một worker, một kernel; chưa đo độ trễ request của ứng dụng thật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Thí nghiệm 2 – Thiết kế so sánh ở cùng ngân sách cảnh báo</a:t>
            </a:r>
            <a:endParaRPr lang="en-US" sz="2200" dirty="0"/>
          </a:p>
        </p:txBody>
      </p:sp>
      <p:sp>
        <p:nvSpPr>
          <p:cNvPr id="3" name="Nội dung"/>
          <p:cNvSpPr txBox="1"/>
          <p:nvPr/>
        </p:nvSpPr>
        <p:spPr>
          <a:xfrm>
            <a:off x="813816" y="1024128"/>
            <a:ext cx="10881360" cy="5120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11 cấu hình × 21 workload × 3 seed = 693 model, </a:t>
            </a:r>
            <a:r>
              <a:rPr lang="en-US" sz="1800" dirty="0">
                <a:solidFill>
                  <a:schemeClr val="tx1"/>
                </a:solidFill>
              </a:rPr>
              <a:t>fit đúng như Pulse trên capture đồng bộ 500 ms (khắc phục điểm còn thiếu của buổi 16/10)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Cấu hình: </a:t>
            </a:r>
            <a:r>
              <a:rPr lang="en-US" sz="1800" dirty="0">
                <a:solidFill>
                  <a:schemeClr val="tx1"/>
                </a:solidFill>
              </a:rPr>
              <a:t>base29 (bộ hiện tại); thêm top-8/16/32, 15 syscall bảo mật, mọi ID; bỏ từng cặp accept/open/exec/clone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Normal holdout: </a:t>
            </a:r>
            <a:r>
              <a:rPr lang="en-US" sz="1800" dirty="0">
                <a:solidFill>
                  <a:schemeClr val="tx1"/>
                </a:solidFill>
              </a:rPr>
              <a:t>24 giờ sau khi đóng băng, 500,8 workload-giờ, chưa dùng để fit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Attack: </a:t>
            </a:r>
            <a:r>
              <a:rPr lang="en-US" sz="1800" dirty="0">
                <a:solidFill>
                  <a:schemeClr val="tx1"/>
                </a:solidFill>
              </a:rPr>
              <a:t>replay 598 trial pulse-attack-dev và 1.238 trial pulse-live-recalibrated (có binary vô hại)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So sánh công bằng: </a:t>
            </a:r>
            <a:r>
              <a:rPr lang="en-US" sz="1800" dirty="0">
                <a:solidFill>
                  <a:schemeClr val="tx1"/>
                </a:solidFill>
              </a:rPr>
              <a:t>mỗi cấu hình chỉnh ngưỡng để có cùng số đợt cảnh báo trên normal (1 và 5 đợt/replica-giờ), rồi so recall, khoảng cách attack − vô hại, độ trễ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Khoảng tin cậy: </a:t>
            </a:r>
            <a:r>
              <a:rPr lang="en-US" sz="1800" dirty="0">
                <a:solidFill>
                  <a:schemeClr val="tx1"/>
                </a:solidFill>
              </a:rPr>
              <a:t>bootstrap ghép cặp theo workload, 10.000 lần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Thí nghiệm 2 – Kết quả chọn syscall (ngân sách 1, CUSUM chặn trần)</a:t>
            </a:r>
            <a:endParaRPr lang="en-US" sz="2200" dirty="0"/>
          </a:p>
        </p:txBody>
      </p:sp>
      <p:graphicFrame>
        <p:nvGraphicFramePr>
          <p:cNvPr id="14" name="Bả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24128"/>
          <a:ext cx="10881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108960"/>
                <a:gridCol w="310896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Cấu hình so với base29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Chênh recall (CI 95%)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Chênh tách attack − vô hại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p95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base29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7,05 s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drop_exec_pair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−6,8 [−11,4; −2,4]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−5,2 [−8,9; −1,6]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7,72 s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plus_all_observed / defined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+2,4 [+0,1; +6,4]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−21,8 [−36,7; −7,4]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0,82 s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plus_top8 / 16 / 32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−1,1 / −1,4 / −3,8 (CI dưới 0)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không khác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6,7–7,4 s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Các cấu hình còn lại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không khác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không khác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5,7–7,3 s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Nội dung"/>
          <p:cNvSpPr txBox="1"/>
          <p:nvPr/>
        </p:nvSpPr>
        <p:spPr>
          <a:xfrm>
            <a:off x="813816" y="3246120"/>
            <a:ext cx="1088136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Kết luận: </a:t>
            </a:r>
            <a:r>
              <a:rPr lang="en-US" sz="1800" dirty="0">
                <a:solidFill>
                  <a:schemeClr val="tx1"/>
                </a:solidFill>
              </a:rPr>
              <a:t>giữ nguyên 29 syscall; cặp exec bắt buộc; thêm syscall làm tách vô hại kém và chậm hơn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Vững dưới cả 3 luật thời gian: </a:t>
            </a:r>
            <a:r>
              <a:rPr lang="en-US" sz="1800" dirty="0">
                <a:solidFill>
                  <a:schemeClr val="tx1"/>
                </a:solidFill>
              </a:rPr>
              <a:t>k2of2, CUSUM bản đầu, CUSUM chặn trần cho cùng kết luận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p95 ở ngân sách 1 cao </a:t>
            </a:r>
            <a:r>
              <a:rPr lang="en-US" sz="1800" dirty="0">
                <a:solidFill>
                  <a:schemeClr val="tx1"/>
                </a:solidFill>
              </a:rPr>
              <a:t>vì CUSUM cần ngưỡng cao để đạt 1 đợt/giờ; ở ngân sách 5, base29 dùng đúng ngưỡng 6 của Pulse (p95 2,6 s)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Thí nghiệm 2 – Nhóm feature trong vector 249 chiều</a:t>
            </a:r>
            <a:endParaRPr lang="en-US" sz="2200" dirty="0"/>
          </a:p>
        </p:txBody>
      </p:sp>
      <p:graphicFrame>
        <p:nvGraphicFramePr>
          <p:cNvPr id="15" name="Bả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24128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920240"/>
                <a:gridCol w="2286000"/>
                <a:gridCol w="28346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Bỏ thành phần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Holdout chính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Holdout thứ hai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Kết luận gộp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Kênh syscall tường minh (chỉ giữ bin)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cần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cần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cần (recall −13 điểm)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 tổng hợp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cần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chưa kết luận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cần (p95 +0,3 s)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64 bin syscall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bỏ được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chưa kết luận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bỏ được (ứng viên rút gọn)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log-count; lịch sử 2 cửa sổ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bỏ được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cần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chưa kết luận (ngược nhau)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tỉ lệ, bin cặp, rolling, lịch sử 1 cửa sổ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chưa kết luận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chưa kết luận / cần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chưa kết luận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Một trong hai nhánh p-value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cần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cần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cần (recall −5 đến −31)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Nội dung"/>
          <p:cNvSpPr txBox="1"/>
          <p:nvPr/>
        </p:nvSpPr>
        <p:spPr>
          <a:xfrm>
            <a:off x="813816" y="3794760"/>
            <a:ext cx="1088136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Luật đăng ký trước: </a:t>
            </a:r>
            <a:r>
              <a:rPr lang="en-US" sz="1800" dirty="0">
                <a:solidFill>
                  <a:schemeClr val="tx1"/>
                </a:solidFill>
              </a:rPr>
              <a:t>giữ kết luận của holdout chính trừ khi holdout thứ hai cho kết luận ngược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Bộ feature giữ nguyên; </a:t>
            </a:r>
            <a:r>
              <a:rPr lang="en-US" sz="1800" dirty="0">
                <a:solidFill>
                  <a:schemeClr val="tx1"/>
                </a:solidFill>
              </a:rPr>
              <a:t>đổi feature cần fit lại, đóng băng và một lượt live riêng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Hai nhánh p-value (xong 23/10): </a:t>
            </a:r>
            <a:r>
              <a:rPr lang="en-US" sz="1800" dirty="0">
                <a:solidFill>
                  <a:schemeClr val="tx1"/>
                </a:solidFill>
              </a:rPr>
              <a:t>chỉ nhánh cây mất 28–31 điểm recall, chỉ nhánh support mất 5–7 điểm → giữ joint p-value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Đang chạy: </a:t>
            </a:r>
            <a:r>
              <a:rPr lang="en-US" sz="1800" dirty="0">
                <a:solidFill>
                  <a:schemeClr val="tx1"/>
                </a:solidFill>
              </a:rPr>
              <a:t>nhóm feature dưới CUSUM chặn trần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Thí nghiệm 3 – RCA: so với buổi 16/10</a:t>
            </a:r>
            <a:endParaRPr lang="en-US" sz="2200" dirty="0"/>
          </a:p>
        </p:txBody>
      </p:sp>
      <p:graphicFrame>
        <p:nvGraphicFramePr>
          <p:cNvPr id="16" name="Bả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24128"/>
          <a:ext cx="1088136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2834640"/>
                <a:gridCol w="29260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Chỉ số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16/10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23/10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Preview → case (p50 / p95)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11,04 / 17,11 s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2,24 / 2,59 s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Attack có case riêng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chưa có campaign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273/315 (86,7%)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Nghi phạm hạng 1 đúng là binary tấn công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chưa đo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273/273 (100%)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Case có ngữ cảnh mạng (flow)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3/107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85,6–89,8%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Nội dung"/>
          <p:cNvSpPr txBox="1"/>
          <p:nvPr/>
        </p:nvSpPr>
        <p:spPr>
          <a:xfrm>
            <a:off x="813816" y="2880360"/>
            <a:ext cx="1088136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Đọc decision trên worker qua SSH: </a:t>
            </a:r>
            <a:r>
              <a:rPr lang="en-US" sz="1800" dirty="0">
                <a:solidFill>
                  <a:schemeClr val="tx1"/>
                </a:solidFill>
              </a:rPr>
              <a:t>bỏ độ trễ ghi NFS (~5 s) → case dựng trong khoảng 2,5 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Case tiếp nối: </a:t>
            </a:r>
            <a:r>
              <a:rPr lang="en-US" sz="1800" dirty="0">
                <a:solidFill>
                  <a:schemeClr val="tx1"/>
                </a:solidFill>
              </a:rPr>
              <a:t>mở case mới khi có exec mới trong cooldown 300 s → coverage 72% → 86,7%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Luật hạ quyền lúc khởi chạy: </a:t>
            </a:r>
            <a:r>
              <a:rPr lang="en-US" sz="1800" dirty="0">
                <a:solidFill>
                  <a:schemeClr val="tx1"/>
                </a:solidFill>
              </a:rPr>
              <a:t>setuid/setgid trong 1 s đầu không tính là đáng ngờ → top-1 91,9% → 100% (kiểm trên dữ liệu mới)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Thí nghiệm 3 – RCA: thêm trong tuần và việc còn lại</a:t>
            </a:r>
            <a:endParaRPr lang="en-US" sz="2200" dirty="0"/>
          </a:p>
        </p:txBody>
      </p:sp>
      <p:sp>
        <p:nvSpPr>
          <p:cNvPr id="3" name="Nội dung"/>
          <p:cNvSpPr txBox="1"/>
          <p:nvPr/>
        </p:nvSpPr>
        <p:spPr>
          <a:xfrm>
            <a:off x="813816" y="1024128"/>
            <a:ext cx="10881360" cy="5120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Nhãn triage probe trên mỗi case: </a:t>
            </a:r>
            <a:r>
              <a:rPr lang="en-US" sz="1800" dirty="0">
                <a:solidFill>
                  <a:schemeClr val="tx1"/>
                </a:solidFill>
              </a:rPr>
              <a:t>đánh dấu case chỉ do probe Kubernetes (chỉ là nhãn, không ẩn case)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Baseline binary mang qua các lượt: </a:t>
            </a:r>
            <a:r>
              <a:rPr lang="en-US" sz="1800" dirty="0">
                <a:solidFill>
                  <a:schemeClr val="tx1"/>
                </a:solidFill>
              </a:rPr>
              <a:t>nghi phạm hạng 1 là binary mới/chưa biết ở 22% / 14% case normal (2 lượt trước); seed 59 binary từ khoảng normal, loại binary của campaign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Bộ đếm lý do từ chối case tiếp nối: </a:t>
            </a:r>
            <a:r>
              <a:rPr lang="en-US" sz="1800" dirty="0">
                <a:solidFill>
                  <a:schemeClr val="tx1"/>
                </a:solidFill>
              </a:rPr>
              <a:t>để giải thích 13% attack chưa có case riêng (đang thu trên lượt xác nhận)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Sự cố đã xử lý: </a:t>
            </a:r>
            <a:r>
              <a:rPr lang="en-US" sz="1800" dirty="0">
                <a:solidFill>
                  <a:schemeClr val="tx1"/>
                </a:solidFill>
              </a:rPr>
              <a:t>tiến trình tetra getevents mồ côi (301/18/59 trên 3 worker) gây cadence gap → timer dọn trên worker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Giới hạn: </a:t>
            </a:r>
            <a:r>
              <a:rPr lang="en-US" sz="1800" dirty="0">
                <a:solidFill>
                  <a:schemeClr val="tx1"/>
                </a:solidFill>
              </a:rPr>
              <a:t>đồ thị là bằng chứng liên quan theo định danh và thời gian, không chứng minh nhân quả; namespace/mount bị seccomp chặn trước kprobe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Phần rule – đánh giá riêng, tích hợp sau khi ML hoàn thiện</a:t>
            </a:r>
            <a:endParaRPr lang="en-US" sz="2200" dirty="0"/>
          </a:p>
        </p:txBody>
      </p:sp>
      <p:graphicFrame>
        <p:nvGraphicFramePr>
          <p:cNvPr id="18" name="Bả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24128"/>
          <a:ext cx="10881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280160"/>
                <a:gridCol w="1645920"/>
                <a:gridCol w="1280160"/>
                <a:gridCol w="173736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Luồng (stable-refreshed)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Recall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Binary vô hại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Control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Đợt/giờ normal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p95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ML (CUSUM)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98,1%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2,9%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5,3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1,70 s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Falco, rule mặc định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35,6%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21,0%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3,2%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1,19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0,005 s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Tripwire syscall lạ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60%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chưa đo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0,79 s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Nội dung"/>
          <p:cNvSpPr txBox="1"/>
          <p:nvPr/>
        </p:nvSpPr>
        <p:spPr>
          <a:xfrm>
            <a:off x="813816" y="2743200"/>
            <a:ext cx="1088136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Falco: </a:t>
            </a:r>
            <a:r>
              <a:rPr lang="en-US" sz="1800" dirty="0">
                <a:solidFill>
                  <a:schemeClr val="tx1"/>
                </a:solidFill>
              </a:rPr>
              <a:t>bắt ptrace 100% trong vài mili-giây; các hành vi chưa có rule chỉ 19–21%; 99% cảnh báo normal từ một pod (Strimzi entity-operator)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Tripwire: </a:t>
            </a:r>
            <a:r>
              <a:rPr lang="en-US" sz="1800" dirty="0">
                <a:solidFill>
                  <a:schemeClr val="tx1"/>
                </a:solidFill>
              </a:rPr>
              <a:t>100% ở ptrace/setns/execveat, không bắt mprotect/seccomp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Nguyên tắc: </a:t>
            </a:r>
            <a:r>
              <a:rPr lang="en-US" sz="1800" dirty="0">
                <a:solidFill>
                  <a:schemeClr val="tx1"/>
                </a:solidFill>
              </a:rPr>
              <a:t>rule không chặn hay lọc trước ML; số liệu ML báo riêng; so sánh không rule / có rule sau lượt xác nhận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Việc tiếp theo và tiến độ</a:t>
            </a:r>
            <a:endParaRPr lang="en-US" sz="2200" dirty="0"/>
          </a:p>
        </p:txBody>
      </p:sp>
      <p:graphicFrame>
        <p:nvGraphicFramePr>
          <p:cNvPr id="19" name="Bả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24128"/>
          <a:ext cx="45720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Hạng mục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Hệ thống Pulse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~92%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Đánh giá Pulse ML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~90%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Thí nghiệm syscall + nhóm feature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~95%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RCA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~92%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Baseline ML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~90%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Phần rule (làm sau ML)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~45%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Viết luận văn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~10%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Luận văn tổng thể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~78%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Nội dung"/>
          <p:cNvSpPr txBox="1"/>
          <p:nvPr/>
        </p:nvSpPr>
        <p:spPr>
          <a:xfrm>
            <a:off x="5760720" y="1024128"/>
            <a:ext cx="5943600" cy="5120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24/10: </a:t>
            </a:r>
            <a:r>
              <a:rPr lang="en-US" sz="1800" dirty="0">
                <a:solidFill>
                  <a:schemeClr val="tx1"/>
                </a:solidFill>
              </a:rPr>
              <a:t>đọc lượt xác nhận (4 kỳ vọng, gánh cảnh báo, test blind giảm gánh, RCA)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Sau đó: </a:t>
            </a:r>
            <a:r>
              <a:rPr lang="en-US" sz="1800" dirty="0">
                <a:solidFill>
                  <a:schemeClr val="tx1"/>
                </a:solidFill>
              </a:rPr>
              <a:t>so sánh không rule / có rule trên cùng dữ liệu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Chốt bằng chứng: </a:t>
            </a:r>
            <a:r>
              <a:rPr lang="en-US" sz="1800" dirty="0">
                <a:solidFill>
                  <a:schemeClr val="tx1"/>
                </a:solidFill>
              </a:rPr>
              <a:t>nhóm feature dưới CUSUM chặn trần (đang chạy)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Viết luận văn: </a:t>
            </a:r>
            <a:r>
              <a:rPr lang="en-US" sz="1800" dirty="0">
                <a:solidFill>
                  <a:schemeClr val="tx1"/>
                </a:solidFill>
              </a:rPr>
              <a:t>chỉ sau khi đủ bằng chứng của cả 3 thí nghiệm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Giới hạn nêu trước: </a:t>
            </a:r>
            <a:r>
              <a:rPr lang="en-US" sz="1800" dirty="0">
                <a:solidFill>
                  <a:schemeClr val="tx1"/>
                </a:solidFill>
              </a:rPr>
              <a:t>gánh cảnh báo còn xa 0,1/giờ; binary vô hại; kịch bản attack đã biết (development)</a:t>
            </a:r>
            <a:endParaRPr lang="en-US" sz="1800" dirty="0"/>
          </a:p>
        </p:txBody>
      </p:sp>
      <p:sp>
        <p:nvSpPr>
          <p:cNvPr id="5" name="Ghi chú"/>
          <p:cNvSpPr txBox="1"/>
          <p:nvPr/>
        </p:nvSpPr>
        <p:spPr>
          <a:xfrm>
            <a:off x="813816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Phần trăm là ước lượng theo khối việc còn lại, không phải đo chính xác.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untime Security">
  <a:themeElements>
    <a:clrScheme name="Runtime Security">
      <a:dk1>
        <a:srgbClr val="000000"/>
      </a:dk1>
      <a:lt1>
        <a:srgbClr val="FFFFFF"/>
      </a:lt1>
      <a:dk2>
        <a:srgbClr val="1F1F1F"/>
      </a:dk2>
      <a:lt2>
        <a:srgbClr val="F2F2F2"/>
      </a:lt2>
      <a:accent1>
        <a:srgbClr val="2E74B5"/>
      </a:accent1>
      <a:accent2>
        <a:srgbClr val="595959"/>
      </a:accent2>
      <a:accent3>
        <a:srgbClr val="A6A6A6"/>
      </a:accent3>
      <a:accent4>
        <a:srgbClr val="C00000"/>
      </a:accent4>
      <a:accent5>
        <a:srgbClr val="548235"/>
      </a:accent5>
      <a:accent6>
        <a:srgbClr val="BF9000"/>
      </a:accent6>
      <a:hlink>
        <a:srgbClr val="2E74B5"/>
      </a:hlink>
      <a:folHlink>
        <a:srgbClr val="7030A0"/>
      </a:folHlink>
    </a:clrScheme>
    <a:fontScheme name="Runtime Securit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Runtime security – tiến độ 16/10–23/10/2026</dc:title>
  <dc:subject>PptxGenJS Presentation</dc:subject>
  <dc:creator>Nguyễn Tuấn Đạt</dc:creator>
  <cp:lastModifiedBy>Nguyễn Tuấn Đạt</cp:lastModifiedBy>
  <cp:revision>1</cp:revision>
  <dcterms:created xsi:type="dcterms:W3CDTF">2026-10-22T18:49:32Z</dcterms:created>
  <dcterms:modified xsi:type="dcterms:W3CDTF">2026-10-22T18:49:32Z</dcterms:modified>
</cp:coreProperties>
</file>