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05AA4B6-9482-4B58-807A-5ED96F84B4A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26AECA-B287-4C63-811F-5D28C2F673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2E61E6-F8F2-483B-B37B-752BEBB6F1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C76DA1-3945-486E-88B1-14C36E5F23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9CF3EB-674A-42B3-A092-69A993803C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EDA40E-60C0-4E8C-B76E-72DC3AB683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B0BAD8-F945-423F-8AF6-CC78EBEDC2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17F3D8-7F9D-4072-8DD7-6E0D35CB61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CE3280-6EF9-4C5B-919B-DDF0095B4A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9F3C4E-378D-4376-B1F6-842FFAFC50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CA54B5-4346-478C-94FA-4C2238A461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76E4D5-C2A4-4584-A911-39B5EDB0D1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C487CC-A9BE-43FE-996F-2372261D22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91648F-CB65-4C30-A71C-797B9006CE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9260DE-E2C4-4BAE-A425-A47FA0ECBA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6B8400-4CF2-4EE1-81BF-94C75DD081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5F90C3-D2C7-44CB-A440-CF61327445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566000" cy="33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12880" y="1148040"/>
            <a:ext cx="10566000" cy="489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69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vi-VN" sz="2200" spc="-1" strike="noStrike">
                <a:solidFill>
                  <a:srgbClr val="000000"/>
                </a:solidFill>
                <a:latin typeface="Arial"/>
                <a:ea typeface="Arial"/>
              </a:rPr>
              <a:t>Cấu trúc bài trình </a:t>
            </a:r>
            <a:r>
              <a:rPr b="1" lang="vi-VN" sz="2200" spc="-1" strike="noStrike">
                <a:solidFill>
                  <a:srgbClr val="000000"/>
                </a:solidFill>
                <a:latin typeface="Arial"/>
                <a:ea typeface="Arial"/>
              </a:rPr>
              <a:t>bày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Body"/>
          <p:cNvSpPr/>
          <p:nvPr/>
        </p:nvSpPr>
        <p:spPr>
          <a:xfrm>
            <a:off x="869040" y="1356480"/>
            <a:ext cx="1081944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vi-VN" sz="1800" spc="-1" strike="noStrike">
                <a:solidFill>
                  <a:srgbClr val="000000"/>
                </a:solidFill>
                <a:latin typeface="Arial"/>
                <a:ea typeface="Arial"/>
              </a:rPr>
              <a:t>1. Thí nghiệm 1 – Sentinel Pulse: phát hiện bất thường bằng eBPF và 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228600" defTabSz="914400">
              <a:lnSpc>
                <a:spcPts val="2429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vi-VN" sz="1800" spc="-1" strike="noStrike">
                <a:solidFill>
                  <a:srgbClr val="000000"/>
                </a:solidFill>
                <a:latin typeface="Arial"/>
                <a:ea typeface="Arial"/>
              </a:rPr>
              <a:t>Thiết kế, dữ liệu đầu vào 249 chiều, vì sao phải ngâm tải 24 giờ, kết quả ngâm tải, canary và development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429"/>
              </a:lnSpc>
              <a:spcBef>
                <a:spcPts val="1800"/>
              </a:spcBef>
              <a:tabLst>
                <a:tab algn="l" pos="0"/>
              </a:tabLst>
            </a:pPr>
            <a:r>
              <a:rPr b="1" lang="vi-VN" sz="1800" spc="-1" strike="noStrike">
                <a:solidFill>
                  <a:srgbClr val="000000"/>
                </a:solidFill>
                <a:latin typeface="Arial"/>
                <a:ea typeface="Arial"/>
              </a:rPr>
              <a:t>2. Thí nghiệm 2 – Lựa chọn syscall làm feature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228600" defTabSz="914400">
              <a:lnSpc>
                <a:spcPts val="2429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vi-VN" sz="1800" spc="-1" strike="noStrike">
                <a:solidFill>
                  <a:srgbClr val="000000"/>
                </a:solidFill>
                <a:latin typeface="Arial"/>
                <a:ea typeface="Arial"/>
              </a:rPr>
              <a:t>Thiết kế, các đại lượng đo, tần suất syscall theo regime, ứng viên ngoài danh sách, 32 biến thể sau sửa profile, kết quả và việc cần làm tiếp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429"/>
              </a:lnSpc>
              <a:spcBef>
                <a:spcPts val="1800"/>
              </a:spcBef>
              <a:tabLst>
                <a:tab algn="l" pos="0"/>
              </a:tabLst>
            </a:pPr>
            <a:r>
              <a:rPr b="1" lang="vi-VN" sz="1800" spc="-1" strike="noStrike">
                <a:solidFill>
                  <a:srgbClr val="000000"/>
                </a:solidFill>
                <a:latin typeface="Arial"/>
                <a:ea typeface="Arial"/>
              </a:rPr>
              <a:t>3. Thí nghiệm 3 – Dựng cây RCA sau alert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228600" defTabSz="914400">
              <a:lnSpc>
                <a:spcPts val="2429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vi-VN" sz="1800" spc="-1" strike="noStrike">
                <a:solidFill>
                  <a:srgbClr val="000000"/>
                </a:solidFill>
                <a:latin typeface="Arial"/>
                <a:ea typeface="Arial"/>
              </a:rPr>
              <a:t>Thiết kế và kết quả RCA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1 –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Sentinel Pulse: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thiết kế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69040" y="1020960"/>
            <a:ext cx="10819440" cy="28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Mục tiêu: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phát hiện bất thường hành vi runtime của workload Kubernetes bằng telemetry eBPF và mô hình học máy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Phạm vi: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3 control plane + 3 worker, Kubernetes v1.34.10; bundle 21 model theo workload/container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Model: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ExtraTrees 192 cây (max_depth=16), tự học từ normal và dữ liệu corrupt, không dùng attack làm nhãn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Quyết định: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p-value conformal của nhánh cây kết hợp nhánh support envelope; preview khi joint_p ≤ alpha ≈ 0,001667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Trạng thái: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shadow/research candidate; alert=false, policy_applied=false, automatic_promotion=false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Phạm vi bằng chứng: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Linux x86-64, kernel và hook đã kiểm chứng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1 – Dữ liệu đầu vào: 249 chiều mỗi window 500 ms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812880" y="1020960"/>
            <a:ext cx="10566000" cy="367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" name="Table 0"/>
          <p:cNvGraphicFramePr/>
          <p:nvPr/>
        </p:nvGraphicFramePr>
        <p:xfrm>
          <a:off x="824040" y="1032120"/>
          <a:ext cx="10554840" cy="3665880"/>
        </p:xfrm>
        <a:graphic>
          <a:graphicData uri="http://schemas.openxmlformats.org/drawingml/2006/table">
            <a:tbl>
              <a:tblPr/>
              <a:tblGrid>
                <a:gridCol w="3518280"/>
                <a:gridCol w="3518280"/>
                <a:gridCol w="351828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Số chiều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Nội dung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0–28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log_count theo từng syscall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29–57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ratio theo từng syscall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58–62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other, total, sensitive_ratio, metadata seccomp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63–126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syscall hash bins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127–190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transition hash bins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191–219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rolling mean của rate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220–248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rolling std của rate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2"/>
          <p:cNvSpPr/>
          <p:nvPr/>
        </p:nvSpPr>
        <p:spPr>
          <a:xfrm>
            <a:off x="812880" y="4876200"/>
            <a:ext cx="108831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Model nhận context 996 chiều = 3 vector trước + vector hiện tại (4 × 249).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Vì sao phải chạy ngâm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tải 24h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869040" y="1020960"/>
            <a:ext cx="10819440" cy="28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Mục đích: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quan sát lâu dưới hoạt động hợp lệ để có cơ hội thấy chu kỳ ngày và tích lũy exposure; 24 giờ là lựa chọn vận hành, không phải định lý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Lộ ra vấn đề test ngắn không thấy: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soak 24 giờ cho thấy luồng scalar bị backlog (6.660.911 records có tuổi trên 3.600 s), dẫn tới hướng sửa bằng batch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Giữ preview và sự cố: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preview trong normal được giữ để review sau, không reset elapsed để có run "0 alert"; DiskPressure, rollout, gap được ghi thành episode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Telemetry hỏng: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là unknown/quarantine, không tính là benign hay TN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Giới hạn: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chạy 12 giờ vẫn có giá trị nếu báo đúng coverage; chạy lâu nhưng lặp cùng một tải thì chưa đủ đa dạng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Soak so với các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loại kiểm tra khác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812880" y="1020960"/>
            <a:ext cx="10566000" cy="3684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" name="Table 0"/>
          <p:cNvGraphicFramePr/>
          <p:nvPr/>
        </p:nvGraphicFramePr>
        <p:xfrm>
          <a:off x="824040" y="1032120"/>
          <a:ext cx="10554840" cy="3673800"/>
        </p:xfrm>
        <a:graphic>
          <a:graphicData uri="http://schemas.openxmlformats.org/drawingml/2006/table">
            <a:tbl>
              <a:tblPr/>
              <a:tblGrid>
                <a:gridCol w="3518280"/>
                <a:gridCol w="3518280"/>
                <a:gridCol w="351828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Loại kiểm tra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Mục đích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Không chứng minh được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Unit/regression test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Công thức, schema, nhánh xử lý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Hệ thống chạy đúng trên cụm thật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Offline replay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Kiểm tra model trên dữ liệu đã lưu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Latency realtime, khả năng tổng quát với attack chưa thấy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Canary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Chạy giới hạn để kiểm tra tích hợp, tốc độ, integrity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Mọi chu kỳ vận hành hiếm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Normal soak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 sát lâu dưới hoạt động hợp lệ, ghi preview và sự cố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Precision/recall attack nếu chưa có nhãn và attack set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Blind attack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Đánh giá model frozen bằng attack chưa dùng tune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FPR deployment ở mọi base rate và mọi OS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1 – Kết quả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ngâm tải 24 giờ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812880" y="1020960"/>
            <a:ext cx="10566000" cy="2124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3" name="Table 0"/>
          <p:cNvGraphicFramePr/>
          <p:nvPr/>
        </p:nvGraphicFramePr>
        <p:xfrm>
          <a:off x="824040" y="1032120"/>
          <a:ext cx="10554840" cy="2113200"/>
        </p:xfrm>
        <a:graphic>
          <a:graphicData uri="http://schemas.openxmlformats.org/drawingml/2006/table">
            <a:tbl>
              <a:tblPr/>
              <a:tblGrid>
                <a:gridCol w="2638440"/>
                <a:gridCol w="2638440"/>
                <a:gridCol w="2638440"/>
                <a:gridCol w="263844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Worker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Feature records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Đã score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Preview positives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.237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13.928.602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4.755.915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12.350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.238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15.096.447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5.258.150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12.059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.239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4.124.430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1.374.766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6.003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Tổng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33.149.479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11.388.831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30.412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"/>
          <p:cNvSpPr/>
          <p:nvPr/>
        </p:nvSpPr>
        <p:spPr>
          <a:xfrm>
            <a:off x="812880" y="3323520"/>
            <a:ext cx="10883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Luồng scalar cũ bị backlog: 6.660.911 records có tuổi từ cuối window đến score lớn hơn 3.600 s, nên không đạt realtime.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812880" y="4118760"/>
            <a:ext cx="10883160" cy="12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Cách tính record: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mỗi feature record là vector 249 chiều của một container (hoặc scope cgroup) trong một window 500 ms; Tổng là cộng ba worker. Đã score là record có model và đủ 4 vector liên tiếp. 33.148.914 decision = 11.388.831 scored + 21.759.882 chưa có model (key pod-slice tổ tiên) + 201 warming.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1 – Canary và development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812880" y="1020960"/>
            <a:ext cx="10566000" cy="1986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" name="Table 0"/>
          <p:cNvGraphicFramePr/>
          <p:nvPr/>
        </p:nvGraphicFramePr>
        <p:xfrm>
          <a:off x="824040" y="1032120"/>
          <a:ext cx="10554840" cy="1974960"/>
        </p:xfrm>
        <a:graphic>
          <a:graphicData uri="http://schemas.openxmlformats.org/drawingml/2006/table">
            <a:tbl>
              <a:tblPr/>
              <a:tblGrid>
                <a:gridCol w="2638440"/>
                <a:gridCol w="2638440"/>
                <a:gridCol w="2638440"/>
                <a:gridCol w="2638440"/>
              </a:tblGrid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Worker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Scored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Preview positives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p99 cuối window → score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.237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98.532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1.220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0,502 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.238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104.780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5.824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0,556 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.239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27.583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0,213 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"/>
          <p:cNvSpPr/>
          <p:nvPr/>
        </p:nvSpPr>
        <p:spPr>
          <a:xfrm>
            <a:off x="812880" y="3185280"/>
            <a:ext cx="10883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Development (315 cặp): TP=284, FN=2, FP kỳ vọng=72, TN kỳ vọng=237, unknown=35. Kernel→preview p50/p95/p99 = 1,067/1,609/4,751 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2 –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Lựa chọn syscall: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thiết kế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869040" y="1020960"/>
            <a:ext cx="10819440" cy="19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7222" lnSpcReduction="10000"/>
          </a:bodyPr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Câu hỏi: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kênh syscall nào hữu ích cho detection; thêm hoặc bớt kênh nào làm đổi khả năng phát hiện và số báo nhầm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Ablation: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19 workload × 32 biến thể = 608 model (full, 29 biến thể drop, no_explicit_channels, top16_plus_sensitive)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Capture: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30 capture sealed; hai cohort (selection dùng để đếm tần suất và xếp hạng syscall, holdout chỉ dùng để chạy model đã đóng băng và đo kết quả) selection - 390.195 rows và holdout 391.044 rows, mỗi cohort 5 regime × 3 worker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2 – Các đại lượng đo khi chọn syscall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812880" y="1020960"/>
            <a:ext cx="10566000" cy="3116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4" name="Table 0"/>
          <p:cNvGraphicFramePr/>
          <p:nvPr/>
        </p:nvGraphicFramePr>
        <p:xfrm>
          <a:off x="824040" y="1032120"/>
          <a:ext cx="10554840" cy="3104640"/>
        </p:xfrm>
        <a:graphic>
          <a:graphicData uri="http://schemas.openxmlformats.org/drawingml/2006/table">
            <a:tbl>
              <a:tblPr/>
              <a:tblGrid>
                <a:gridCol w="5277240"/>
                <a:gridCol w="527724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Đại lượng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Cách đo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Tần suất và độ phủ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Histogram full-ID theo cadence 1 s; đếm syscall entries và số ID khác nhau theo regime trên cohort selection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Xếp hạng ứng viên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Chỉ trên training prefix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Raw positives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Tỷ lệ context bị gắn cờ trên holdout normal; chưa phải FPR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Recall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Theo scenario-trial,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Báo nhầm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Ngân sách false-alert khác 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2 –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Tần suất syscall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theo regime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(cohort selection)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812880" y="1020960"/>
            <a:ext cx="10566000" cy="2547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" name="Table 0"/>
          <p:cNvGraphicFramePr/>
          <p:nvPr/>
        </p:nvGraphicFramePr>
        <p:xfrm>
          <a:off x="824040" y="1032120"/>
          <a:ext cx="10554840" cy="2535840"/>
        </p:xfrm>
        <a:graphic>
          <a:graphicData uri="http://schemas.openxmlformats.org/drawingml/2006/table">
            <a:tbl>
              <a:tblPr/>
              <a:tblGrid>
                <a:gridCol w="2638440"/>
                <a:gridCol w="2638440"/>
                <a:gridCol w="2638440"/>
                <a:gridCol w="263844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Regime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Syscall entries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 khác nhau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Tỷ lệ thuộc 29 kênh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steady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28.938.394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33,3054%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toolmix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33.106.382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34,6515%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peak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43.300.587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36,8772%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burst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52.076.508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38,2770%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recovery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27.881.753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33,0198%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 2"/>
          <p:cNvSpPr/>
          <p:nvPr/>
        </p:nvSpPr>
        <p:spPr>
          <a:xfrm>
            <a:off x="812880" y="3746160"/>
            <a:ext cx="10883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Tổng: 185.303.624 syscall entries, 135 ID khác nhau; 29 kênh tường minh đóng góp 66.217.752 lượt (35,7347%).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2 –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Ứng viên syscall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ngoài danh sách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812880" y="1020960"/>
            <a:ext cx="1088316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Trong 135 ID đã quan sát ở selection, chỉ 22 ID thuộc tập tường minh, còn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113 ID ngoài danh sách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. Một số ứng viên có cơ sở tần suất để đưa vào thí nghiệm (số lượt không gồm pod-slice):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812880" y="1816200"/>
            <a:ext cx="10566000" cy="3815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2" name="Table 0"/>
          <p:cNvGraphicFramePr/>
          <p:nvPr/>
        </p:nvGraphicFramePr>
        <p:xfrm>
          <a:off x="824040" y="1827360"/>
          <a:ext cx="10554840" cy="3803760"/>
        </p:xfrm>
        <a:graphic>
          <a:graphicData uri="http://schemas.openxmlformats.org/drawingml/2006/table">
            <a:tbl>
              <a:tblPr/>
              <a:tblGrid>
                <a:gridCol w="3518280"/>
                <a:gridCol w="3518280"/>
                <a:gridCol w="351828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Syscall native x86-64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Lượt trong selection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232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epoll_wait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18.626.739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futex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14.736.697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262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newfstatat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14.328.316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281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epoll_pwait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9.078.932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233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epoll_ctl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8.847.504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fstat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7.113.577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nanosleep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6.053.772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lseek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5.053.365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2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Thí nghiệm 2 – 32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biến thể sau sửa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profile (1/3)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812880" y="990720"/>
            <a:ext cx="10566000" cy="5083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5" name="Table 0"/>
          <p:cNvGraphicFramePr/>
          <p:nvPr/>
        </p:nvGraphicFramePr>
        <p:xfrm>
          <a:off x="824040" y="1001880"/>
          <a:ext cx="10554840" cy="5072040"/>
        </p:xfrm>
        <a:graphic>
          <a:graphicData uri="http://schemas.openxmlformats.org/drawingml/2006/table">
            <a:tbl>
              <a:tblPr/>
              <a:tblGrid>
                <a:gridCol w="3518280"/>
                <a:gridCol w="3518280"/>
                <a:gridCol w="351828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Biến thể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Raw positives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Tỷ lệ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full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11.989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3,5825%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drop_accept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11.940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3,5679%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drop_accept4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8.767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2,6197%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drop_capset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13.235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3,9548%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drop_chmod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11.975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3,5783%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drop_clone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11.973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3,5777%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drop_clone3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14.880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4,4464%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drop_close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11.314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3,3808%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drop_connect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14.949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4,4670%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drop_execve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14.209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4,2459%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drop_execveat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11.989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3,5825%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"/>
          <p:cNvSpPr txBox="1"/>
          <p:nvPr/>
        </p:nvSpPr>
        <p:spPr>
          <a:xfrm>
            <a:off x="1143000" y="6172200"/>
            <a:ext cx="511380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Tỷ lệ = Raw positives / 334.655 context holdout (ví dụ full: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11.989 / 334.655 = 3,5825%).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2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Thí nghiệm 2 – 32 biến thể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sau sửa profile (2/3)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812880" y="990720"/>
            <a:ext cx="10566000" cy="5083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" name="Table 0"/>
          <p:cNvGraphicFramePr/>
          <p:nvPr/>
        </p:nvGraphicFramePr>
        <p:xfrm>
          <a:off x="824040" y="1001880"/>
          <a:ext cx="10554840" cy="5072040"/>
        </p:xfrm>
        <a:graphic>
          <a:graphicData uri="http://schemas.openxmlformats.org/drawingml/2006/table">
            <a:tbl>
              <a:tblPr/>
              <a:tblGrid>
                <a:gridCol w="3518280"/>
                <a:gridCol w="3518280"/>
                <a:gridCol w="351828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Biến thể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Raw positives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Tỷ lệ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drop_mmap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13.691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4,0911%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drop_mount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11.989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3,5825%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drop_mprotect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13.704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4,0950%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drop_open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12.027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3,5939%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drop_openat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11.996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3,5846%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drop_pivot_root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11.989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3,5825%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drop_ptrace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11.989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3,5825%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drop_read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12.275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3,6680%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drop_recvfrom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12.126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3,6234%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drop_recvmmsg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11.989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3,5825%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drop_seccomp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13.439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4,0158%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2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Thí nghiệm 2 – 32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biến thể sau sửa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profile (3/3)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812880" y="990720"/>
            <a:ext cx="10566000" cy="4660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2" name="Table 0"/>
          <p:cNvGraphicFramePr/>
          <p:nvPr/>
        </p:nvGraphicFramePr>
        <p:xfrm>
          <a:off x="824040" y="1001880"/>
          <a:ext cx="10554840" cy="4649400"/>
        </p:xfrm>
        <a:graphic>
          <a:graphicData uri="http://schemas.openxmlformats.org/drawingml/2006/table">
            <a:tbl>
              <a:tblPr/>
              <a:tblGrid>
                <a:gridCol w="3518280"/>
                <a:gridCol w="3518280"/>
                <a:gridCol w="351828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Biến thể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Raw positives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Tỷ lệ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drop_sendmmsg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11.924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3,5631%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drop_sendto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14.713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4,3965%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drop_setgid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13.815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4,1281%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drop_setns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11.989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3,5825%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drop_setuid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12.729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3,8036%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drop_socket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12.932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3,8643%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drop_unshare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11.989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3,5825%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drop_write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11.365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3,3960%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no_explicit_channels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7.780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2,3248%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top16_plus_sensitive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14.871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algn="r"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4,4437%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Text 2"/>
          <p:cNvSpPr/>
          <p:nvPr/>
        </p:nvSpPr>
        <p:spPr>
          <a:xfrm>
            <a:off x="812880" y="5829480"/>
            <a:ext cx="1088316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Thống kê mô tả raw output trên 334.655 context, không xếp hạng model tốt nhất theo ít flag nhất.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2 – Kết quả và việc cần làm tiếp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812880" y="1020960"/>
            <a:ext cx="10566000" cy="1140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Table 0"/>
          <p:cNvGraphicFramePr/>
          <p:nvPr/>
        </p:nvGraphicFramePr>
        <p:xfrm>
          <a:off x="824040" y="1032480"/>
          <a:ext cx="10554840" cy="1129680"/>
        </p:xfrm>
        <a:graphic>
          <a:graphicData uri="http://schemas.openxmlformats.org/drawingml/2006/table">
            <a:tbl>
              <a:tblPr/>
              <a:tblGrid>
                <a:gridCol w="5277240"/>
                <a:gridCol w="527724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Hạng mục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Kết quả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Kênh tường minh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22/29 có xuất hiện; 7 chưa thấy: ptrace, pivot_root, mount, unshare, recvmmsg, setns, execveat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Text 2"/>
          <p:cNvSpPr/>
          <p:nvPr/>
        </p:nvSpPr>
        <p:spPr>
          <a:xfrm>
            <a:off x="812880" y="2340000"/>
            <a:ext cx="1088316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Chưa kết luận chọn syscall. Cần làm tiếp: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869040" y="2826360"/>
            <a:ext cx="10819440" cy="22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Thu capture mới đồng bộ 500 ms, cùng observable với Pulse (exact counters, 64 syscall bins, 64 transition bins, rolling/history, support path)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Normal test ít nhất 24 giờ trên 21 keys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3 – Dựng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cây RCA sau alert: thiết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kế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869040" y="1020960"/>
            <a:ext cx="10819440" cy="25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Mục tiêu: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từ candidate_alert_preview của Pulse, thu bằng chứng về process hoạt động, parent và đích connect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Thu thập: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Tetragon policy + lifecycle events trên 3 worker, observation-only, namespace production; không lấy argv, token hay payload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Ghép: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join theo node + Pod UID + container + thời gian, không chỉ theo PID, tên pod hay IP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Output: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evidence graph, case JSON + Markdown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Trigger: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preview, vì Pulse chưa phát alert production; không tự xử lý pod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98000" indent="-198000" defTabSz="914400">
              <a:lnSpc>
                <a:spcPts val="2429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Service: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pulse-rca-runtime-events.service, active/enabled, NRestarts=0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12880" y="507960"/>
            <a:ext cx="1088316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2639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Thí nghiệm 3 – Kết quả RCA</a:t>
            </a:r>
            <a:endParaRPr b="0" lang="en-US" sz="2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812880" y="1020960"/>
            <a:ext cx="10566000" cy="2977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3" name="Table 0"/>
          <p:cNvGraphicFramePr/>
          <p:nvPr/>
        </p:nvGraphicFramePr>
        <p:xfrm>
          <a:off x="824040" y="1032480"/>
          <a:ext cx="10554840" cy="2966400"/>
        </p:xfrm>
        <a:graphic>
          <a:graphicData uri="http://schemas.openxmlformats.org/drawingml/2006/table">
            <a:tbl>
              <a:tblPr/>
              <a:tblGrid>
                <a:gridCol w="5277240"/>
                <a:gridCol w="5277240"/>
              </a:tblGrid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Hạng mục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Kết quả đã đo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Case run r2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107 case, 0 lỗi cấu trúc/binding; 63 có runtime context, 3 có connect context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Preview → case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p50 11,04 s; p95 17,11 s; p99 17,69 s (n=107, chỉ mô tả)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26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Ví dụ inventory-service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99 connect attempt, 10 process, 5 parent, 3 đích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7040"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Probe restricted production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rIns="101520" tIns="63360" bIns="6336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35 events → 59 node/78 edge; 19/23 checks; namespace/mount không có Tetragon event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01520" marR="101520">
                    <a:lnL w="12240">
                      <a:solidFill>
                        <a:srgbClr val="cbcbcb"/>
                      </a:solidFill>
                      <a:prstDash val="solid"/>
                    </a:lnL>
                    <a:lnR w="12240">
                      <a:solidFill>
                        <a:srgbClr val="cbcbcb"/>
                      </a:solidFill>
                      <a:prstDash val="solid"/>
                    </a:lnR>
                    <a:lnT w="12240">
                      <a:solidFill>
                        <a:srgbClr val="cbcbcb"/>
                      </a:solidFill>
                      <a:prstDash val="solid"/>
                    </a:lnT>
                    <a:lnB w="12240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entinel Pulse, thí nghiệm syscall và RCA">
  <a:themeElements>
    <a:clrScheme name="Sentinel Pulse, thí nghiệm syscall và RCA">
      <a:dk1>
        <a:srgbClr val="000000"/>
      </a:dk1>
      <a:lt1>
        <a:srgbClr val="ffffff"/>
      </a:lt1>
      <a:dk2>
        <a:srgbClr val="404040"/>
      </a:dk2>
      <a:lt2>
        <a:srgbClr val="e6e6e6"/>
      </a:lt2>
      <a:accent1>
        <a:srgbClr val="9aa0a6"/>
      </a:accent1>
      <a:accent2>
        <a:srgbClr val="666666"/>
      </a:accent2>
      <a:accent3>
        <a:srgbClr val="8c8c8c"/>
      </a:accent3>
      <a:accent4>
        <a:srgbClr val="b3b3b3"/>
      </a:accent4>
      <a:accent5>
        <a:srgbClr val="cccccc"/>
      </a:accent5>
      <a:accent6>
        <a:srgbClr val="262626"/>
      </a:accent6>
      <a:hlink>
        <a:srgbClr val="0563c1"/>
      </a:hlink>
      <a:folHlink>
        <a:srgbClr val="954f72"/>
      </a:folHlink>
    </a:clrScheme>
    <a:fontScheme name="Sentinel Pulse, thí nghiệm syscall và RCA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ntinel Pulse, thí nghiệm syscall và RCA">
  <a:themeElements>
    <a:clrScheme name="Sentinel Pulse, thí nghiệm syscall và RCA">
      <a:dk1>
        <a:srgbClr val="000000"/>
      </a:dk1>
      <a:lt1>
        <a:srgbClr val="ffffff"/>
      </a:lt1>
      <a:dk2>
        <a:srgbClr val="404040"/>
      </a:dk2>
      <a:lt2>
        <a:srgbClr val="e6e6e6"/>
      </a:lt2>
      <a:accent1>
        <a:srgbClr val="9aa0a6"/>
      </a:accent1>
      <a:accent2>
        <a:srgbClr val="666666"/>
      </a:accent2>
      <a:accent3>
        <a:srgbClr val="8c8c8c"/>
      </a:accent3>
      <a:accent4>
        <a:srgbClr val="b3b3b3"/>
      </a:accent4>
      <a:accent5>
        <a:srgbClr val="cccccc"/>
      </a:accent5>
      <a:accent6>
        <a:srgbClr val="262626"/>
      </a:accent6>
      <a:hlink>
        <a:srgbClr val="0563c1"/>
      </a:hlink>
      <a:folHlink>
        <a:srgbClr val="954f72"/>
      </a:folHlink>
    </a:clrScheme>
    <a:fontScheme name="Sentinel Pulse, thí nghiệm syscall và RCA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2026-10-16T02:59:49Z</dcterms:created>
  <dc:creator/>
  <dc:description/>
  <dc:language>en-US</dc:language>
  <cp:lastModifiedBy/>
  <dcterms:modified xsi:type="dcterms:W3CDTF">2026-10-16T10:19:01Z</dcterms:modified>
  <cp:revision>4</cp:revision>
  <dc:subject/>
  <dc:title>Sentinel Pulse, thí nghiệm syscall và RCA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